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A1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D9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6E-408B-A82D-0DABB99E074B}"/>
              </c:ext>
            </c:extLst>
          </c:dPt>
          <c:dPt>
            <c:idx val="1"/>
            <c:bubble3D val="0"/>
            <c:spPr>
              <a:solidFill>
                <a:srgbClr val="F26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6E-408B-A82D-0DABB99E074B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1D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6E-408B-A82D-0DABB99E074B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1D2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6E-408B-A82D-0DABB99E074B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73.47</c:v>
                </c:pt>
                <c:pt idx="1">
                  <c:v>26.53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6E-408B-A82D-0DABB99E0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No-churn</c:v>
                </c:pt>
              </c:strCache>
            </c:strRef>
          </c:tx>
          <c:spPr>
            <a:solidFill>
              <a:srgbClr val="2FD9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3612</c:v>
                </c:pt>
                <c:pt idx="1">
                  <c:v>3622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39-4F66-85D5-DAB483D374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F2643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1318</c:v>
                </c:pt>
                <c:pt idx="1">
                  <c:v>3622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39-4F66-85D5-DAB483D374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EA1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tree</c:v>
                </c:pt>
              </c:strCache>
            </c:strRef>
          </c:tx>
          <c:spPr>
            <a:solidFill>
              <a:srgbClr val="2FD9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72.55</c:v>
                </c:pt>
                <c:pt idx="1">
                  <c:v>48.97</c:v>
                </c:pt>
                <c:pt idx="2">
                  <c:v>80.39</c:v>
                </c:pt>
                <c:pt idx="3">
                  <c:v>60.86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C1-4581-B64F-50DA311A4B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Entropy tree</c:v>
                </c:pt>
              </c:strCache>
            </c:strRef>
          </c:tx>
          <c:spPr>
            <a:solidFill>
              <a:srgbClr val="F2643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73.45</c:v>
                </c:pt>
                <c:pt idx="1">
                  <c:v>50</c:v>
                </c:pt>
                <c:pt idx="2">
                  <c:v>79.14</c:v>
                </c:pt>
                <c:pt idx="3">
                  <c:v>61.28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C1-4581-B64F-50DA311A4B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k-NN (k=5)</c:v>
                </c:pt>
              </c:strCache>
            </c:strRef>
          </c:tx>
          <c:spPr>
            <a:solidFill>
              <a:srgbClr val="8C7CF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69</c:v>
                </c:pt>
                <c:pt idx="1">
                  <c:v>44.85</c:v>
                </c:pt>
                <c:pt idx="2">
                  <c:v>72.91</c:v>
                </c:pt>
                <c:pt idx="3">
                  <c:v>55.53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C1-4581-B64F-50DA311A4B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EA1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tree</c:v>
                </c:pt>
              </c:strCache>
            </c:strRef>
          </c:tx>
          <c:spPr>
            <a:ln w="31750" cap="flat">
              <a:solidFill>
                <a:srgbClr val="2FD9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D9B8"/>
              </a:solidFill>
              <a:ln w="9525" cap="flat">
                <a:solidFill>
                  <a:srgbClr val="2FD9B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77.09</c:v>
                </c:pt>
                <c:pt idx="1">
                  <c:v>77.5</c:v>
                </c:pt>
                <c:pt idx="2">
                  <c:v>78.400000000000006</c:v>
                </c:pt>
                <c:pt idx="3">
                  <c:v>79.64</c:v>
                </c:pt>
                <c:pt idx="4">
                  <c:v>76.86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EF-417B-93DA-EE39C4EDF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Entropy tree</c:v>
                </c:pt>
              </c:strCache>
            </c:strRef>
          </c:tx>
          <c:spPr>
            <a:ln w="31750" cap="flat">
              <a:solidFill>
                <a:srgbClr val="F2643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6430"/>
              </a:solidFill>
              <a:ln w="9525" cap="flat">
                <a:solidFill>
                  <a:srgbClr val="F2643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79.430000000000007</c:v>
                </c:pt>
                <c:pt idx="1">
                  <c:v>77.849999999999994</c:v>
                </c:pt>
                <c:pt idx="2">
                  <c:v>77.849999999999994</c:v>
                </c:pt>
                <c:pt idx="3">
                  <c:v>79.02</c:v>
                </c:pt>
                <c:pt idx="4">
                  <c:v>76.86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EF-417B-93DA-EE39C4EDF4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k-NN (k=5)</c:v>
                </c:pt>
              </c:strCache>
            </c:strRef>
          </c:tx>
          <c:spPr>
            <a:ln w="31750" cap="flat">
              <a:solidFill>
                <a:srgbClr val="8C7CF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C7CF5"/>
              </a:solidFill>
              <a:ln w="9525" cap="flat">
                <a:solidFill>
                  <a:srgbClr val="8C7CF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76.260000000000005</c:v>
                </c:pt>
                <c:pt idx="1">
                  <c:v>76.260000000000005</c:v>
                </c:pt>
                <c:pt idx="2">
                  <c:v>77.5</c:v>
                </c:pt>
                <c:pt idx="3">
                  <c:v>79.709999999999994</c:v>
                </c:pt>
                <c:pt idx="4">
                  <c:v>76.040000000000006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EF-417B-93DA-EE39C4EDF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EA1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436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EA1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733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CUSTOMER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OR GO?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MINING FINAL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4160520"/>
            <a:ext cx="100584" cy="100584"/>
          </a:xfrm>
          <a:prstGeom prst="rect">
            <a:avLst/>
          </a:prstGeom>
          <a:ln w="19050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8932" y="4315968"/>
            <a:ext cx="0" cy="502920"/>
          </a:xfrm>
          <a:prstGeom prst="line">
            <a:avLst/>
          </a:prstGeom>
          <a:noFill/>
          <a:ln w="15875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telecom churn-prediction pipeline built from a 7,043-customer dataset ,comparing a from-scratch decision tree against k-nearest neighbors.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105156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15161F"/>
          </a:solidFill>
          <a:ln w="12700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98080" y="105156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F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0" y="1243584"/>
            <a:ext cx="4114800" cy="192024"/>
          </a:xfrm>
          <a:prstGeom prst="rect">
            <a:avLst/>
          </a:prstGeom>
          <a:solidFill>
            <a:srgbClr val="1F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62672" y="118872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82128" y="118872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01584" y="118872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0" y="1106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D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churn_model.py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618488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r>
              <a:rPr lang="en-US" sz="1150" dirty="0">
                <a:solidFill>
                  <a:srgbClr val="8C7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0" y="1902605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2186722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</a:t>
            </a:r>
            <a:r>
              <a:rPr lang="en-US" sz="1150" dirty="0">
                <a:solidFill>
                  <a:srgbClr val="F26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'telco.csv'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0" y="2470839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0" y="2754957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the tree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0" y="3039074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fit_tree(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01000" y="3323191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best_gain </a:t>
            </a: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F26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0.0933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3607308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split_at </a:t>
            </a: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 </a:t>
            </a: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r>
              <a:rPr lang="en-US" sz="1150" dirty="0">
                <a:solidFill>
                  <a:srgbClr val="F26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0" y="3891425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0" y="4175542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 churn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0" y="4459659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predict(customer)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01000" y="4743777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flag_for_retention()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0" y="5027894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0" y="5312011"/>
            <a:ext cx="3566160" cy="284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accuracy: 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73.45%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tell who's about to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— before they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06640" y="1691640"/>
            <a:ext cx="4206240" cy="3063240"/>
          </a:xfrm>
          <a:prstGeom prst="roundRect">
            <a:avLst>
              <a:gd name="adj" fmla="val 2388"/>
            </a:avLst>
          </a:prstGeom>
          <a:solidFill>
            <a:srgbClr val="15161F"/>
          </a:solidFill>
          <a:ln w="12700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1F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0" y="1883664"/>
            <a:ext cx="4206240" cy="192024"/>
          </a:xfrm>
          <a:prstGeom prst="rect">
            <a:avLst/>
          </a:prstGeom>
          <a:solidFill>
            <a:srgbClr val="1F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71232" y="182880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90688" y="182880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10144" y="182880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17465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D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2258568"/>
            <a:ext cx="3657600" cy="339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POSITIVE_CLASS </a:t>
            </a: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F26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'Churn=Yes'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0" y="2598202"/>
            <a:ext cx="3657600" cy="339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0" y="2937837"/>
            <a:ext cx="3657600" cy="339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y_true, y_pred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09560" y="3277471"/>
            <a:ext cx="3657600" cy="339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recall, f1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3617105"/>
            <a:ext cx="3657600" cy="339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80960" y="3956739"/>
            <a:ext cx="3657600" cy="339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just accuracy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0960" y="4296374"/>
            <a:ext cx="3657600" cy="339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E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catch_rate: </a:t>
            </a:r>
            <a:r>
              <a:rPr lang="en-US" sz="1150" dirty="0">
                <a:solidFill>
                  <a:srgbClr val="2FD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80.4%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06640" y="4892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is scored on how well it catches this class not just raw accuracy.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368296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" y="2532888"/>
            <a:ext cx="0" cy="548640"/>
          </a:xfrm>
          <a:prstGeom prst="line">
            <a:avLst/>
          </a:prstGeom>
          <a:noFill/>
          <a:ln w="15875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23317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64261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binary classification , Churn = Yes is the positive class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300984"/>
            <a:ext cx="100584" cy="100584"/>
          </a:xfrm>
          <a:prstGeom prst="rect">
            <a:avLst/>
          </a:prstGeom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8932" y="3465576"/>
            <a:ext cx="0" cy="548640"/>
          </a:xfrm>
          <a:prstGeom prst="line">
            <a:avLst/>
          </a:prstGeom>
          <a:noFill/>
          <a:ln w="15875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2644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Model Families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57530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head-to-head on the same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33672"/>
            <a:ext cx="100584" cy="100584"/>
          </a:xfrm>
          <a:prstGeom prst="rect">
            <a:avLst/>
          </a:prstGeom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8932" y="4398264"/>
            <a:ext cx="0" cy="548640"/>
          </a:xfrm>
          <a:prstGeom prst="line">
            <a:avLst/>
          </a:prstGeom>
          <a:noFill/>
          <a:ln w="15875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19709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5079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at-risk customers early enough for retention efforts to work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8932" y="5330952"/>
            <a:ext cx="0" cy="548640"/>
          </a:xfrm>
          <a:prstGeom prst="line">
            <a:avLst/>
          </a:prstGeom>
          <a:noFill/>
          <a:ln w="15875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" y="512978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54406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decision tree from scratch, then benchmark it against k-NN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 customers, one shared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IBM Telco Customer Churn dataset real demographic, service, account, and billing records, tracking who left within the last month.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0140" y="2811780"/>
            <a:ext cx="868680" cy="868680"/>
          </a:xfrm>
          <a:prstGeom prst="hexagon">
            <a:avLst/>
          </a:prstGeom>
          <a:solidFill>
            <a:srgbClr val="3B3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7719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27048" y="3218688"/>
            <a:ext cx="54864" cy="54864"/>
          </a:xfrm>
          <a:prstGeom prst="ellipse">
            <a:avLst/>
          </a:prstGeom>
          <a:solidFill>
            <a:srgbClr val="2F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9593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payment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method, internet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57400" y="3246120"/>
            <a:ext cx="1097280" cy="0"/>
          </a:xfrm>
          <a:prstGeom prst="line">
            <a:avLst/>
          </a:prstGeom>
          <a:noFill/>
          <a:ln w="19050">
            <a:solidFill>
              <a:srgbClr val="3B3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23260" y="2811780"/>
            <a:ext cx="868680" cy="868680"/>
          </a:xfrm>
          <a:prstGeom prst="hexagon">
            <a:avLst/>
          </a:prstGeom>
          <a:solidFill>
            <a:srgbClr val="3B3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37719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30168" y="3218688"/>
            <a:ext cx="54864" cy="54864"/>
          </a:xfrm>
          <a:prstGeom prst="ellipse">
            <a:avLst/>
          </a:prstGeom>
          <a:solidFill>
            <a:srgbClr val="F26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39593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month-to-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→ one year →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0520" y="3246120"/>
            <a:ext cx="1097280" cy="0"/>
          </a:xfrm>
          <a:prstGeom prst="line">
            <a:avLst/>
          </a:prstGeom>
          <a:noFill/>
          <a:ln w="19050">
            <a:solidFill>
              <a:srgbClr val="3B3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26380" y="2811780"/>
            <a:ext cx="868680" cy="868680"/>
          </a:xfrm>
          <a:prstGeom prst="hexagon">
            <a:avLst/>
          </a:prstGeom>
          <a:solidFill>
            <a:srgbClr val="3B3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37719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33288" y="3218688"/>
            <a:ext cx="54864" cy="54864"/>
          </a:xfrm>
          <a:prstGeom prst="ellipse">
            <a:avLst/>
          </a:prstGeom>
          <a:solidFill>
            <a:srgbClr val="8C7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9593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tenure, Monthly-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Charges, Total-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2.77 : 1 majority-to-minority ratio — enough imbalance to require correction later.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5879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834640" y="5879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per record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1417320"/>
            <a:ext cx="3931920" cy="4709160"/>
          </a:xfrm>
          <a:prstGeom prst="roundRect">
            <a:avLst>
              <a:gd name="adj" fmla="val 1395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5528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SPLIT</a:t>
            </a:r>
            <a:endParaRPr lang="en-US" sz="11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863840" y="1965960"/>
          <a:ext cx="3566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 DATA READY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model sees the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it needs a clean 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4016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8932" y="2578608"/>
            <a:ext cx="0" cy="1737360"/>
          </a:xfrm>
          <a:prstGeom prst="line">
            <a:avLst/>
          </a:prstGeom>
          <a:noFill/>
          <a:ln w="15875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Types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88336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TotalCharges was stored as text; 11 blank/invalid entries became missing values once converted to numeric.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2414016"/>
            <a:ext cx="100584" cy="100584"/>
          </a:xfrm>
          <a:prstGeom prst="rect">
            <a:avLst/>
          </a:prstGeom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9292" y="2578608"/>
            <a:ext cx="0" cy="1737360"/>
          </a:xfrm>
          <a:prstGeom prst="line">
            <a:avLst/>
          </a:prstGeom>
          <a:noFill/>
          <a:ln w="15875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Duplicates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03320" y="2688336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found. customerID was dropped from the features it's an identifier, not a signal.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414016"/>
            <a:ext cx="100584" cy="100584"/>
          </a:xfrm>
          <a:prstGeom prst="rect">
            <a:avLst/>
          </a:prstGeom>
          <a:ln w="19050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9652" y="2578608"/>
            <a:ext cx="0" cy="1737360"/>
          </a:xfrm>
          <a:prstGeom prst="line">
            <a:avLst/>
          </a:prstGeom>
          <a:noFill/>
          <a:ln w="15875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7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 Carefully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688336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TotalCharges filled with the training-set mean (2,305.07), computed on training data only.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2414016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40012" y="2578608"/>
            <a:ext cx="0" cy="1737360"/>
          </a:xfrm>
          <a:prstGeom prst="line">
            <a:avLst/>
          </a:prstGeom>
          <a:noFill/>
          <a:ln w="15875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6404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&amp; Check Outliers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64040" y="2688336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stratified 70/30 split (random_state = 42). A 1.5×IQR check found zero outliers.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US" sz="1100" i="1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PCA check on the three continuous variables confirmed one thing dominates variance (≈</a:t>
            </a:r>
            <a:r>
              <a:rPr lang="en-US" sz="1100" dirty="0">
                <a:solidFill>
                  <a:srgbClr val="9EA1B8"/>
                </a:solidFill>
              </a:rPr>
              <a:t>99.986</a:t>
            </a:r>
            <a:r>
              <a:rPr lang="en-US" sz="1100" i="1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in the first component) but with only three variables, PCA wasn't worth trading away interpretability for.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Churners were the minority —</a:t>
            </a:r>
            <a:endParaRPr lang="en-US" sz="2700" dirty="0"/>
          </a:p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training had to compensate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roughly 3 stayers for every churner, a model could hit 73% accuracy just by guessing “No” every time. Random oversampling was applied but only to the training set.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 :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majority-to-minority ratio — above the project's ~70/30 imbalance flag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4882896"/>
            <a:ext cx="100584" cy="100584"/>
          </a:xfrm>
          <a:prstGeom prst="rect">
            <a:avLst/>
          </a:prstGeom>
          <a:ln w="19050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8932" y="5047488"/>
            <a:ext cx="0" cy="502920"/>
          </a:xfrm>
          <a:prstGeom prst="line">
            <a:avLst/>
          </a:prstGeom>
          <a:noFill/>
          <a:ln w="15875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7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15721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Oversampling touched training data only — the test set's real-world 73.47% / 26.53% split was preserved.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23760" y="1280160"/>
            <a:ext cx="4434840" cy="4846320"/>
          </a:xfrm>
          <a:prstGeom prst="roundRect">
            <a:avLst>
              <a:gd name="adj" fmla="val 1237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ROWS: 4,930 → 7,244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406640" y="1828800"/>
          <a:ext cx="4114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TOLD 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 shape most of the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 on the cleaned training data histograms, box plots, and a scatter matrix surfaced these patterns: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85416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328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32.47 mo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mo median a fairly even spread of how long customers stick around.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185416"/>
            <a:ext cx="100584" cy="100584"/>
          </a:xfrm>
          <a:prstGeom prst="rect">
            <a:avLst/>
          </a:prstGeom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Charges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0" y="25328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$64.95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97680" y="310896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$70.58 median most customers cluster at the higher end of billing.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2185416"/>
            <a:ext cx="100584" cy="100584"/>
          </a:xfrm>
          <a:prstGeom prst="rect">
            <a:avLst/>
          </a:prstGeom>
          <a:ln w="19050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2148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7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Charges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0" y="25328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$2,305.07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46720" y="310896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$1,390.73 median, SD $2,290.92 strong right skew from accumulating with tenure.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4444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SKEW MATTERS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3309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TotalCharges is essentially tenure multiplied by billing history, so it dominates the numeric variance and correlates heavily with tenure itself.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646557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MODELS, ONE GOAL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hand-built decision tree, benchmarked against k-NN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using the course's own impurity and splitting logic ,not a library call. Trained to max depth 6 in two flavors: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319272"/>
            <a:ext cx="54864" cy="54864"/>
          </a:xfrm>
          <a:prstGeom prst="ellipse">
            <a:avLst/>
          </a:prstGeom>
          <a:solidFill>
            <a:srgbClr val="2F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impurity and Entropy / Information Gain, compared side by side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3895344"/>
            <a:ext cx="54864" cy="54864"/>
          </a:xfrm>
          <a:prstGeom prst="ellipse">
            <a:avLst/>
          </a:prstGeom>
          <a:solidFill>
            <a:srgbClr val="2F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77647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split by category; continuous features use binary threshold splits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4471416"/>
            <a:ext cx="54864" cy="54864"/>
          </a:xfrm>
          <a:prstGeom prst="ellipse">
            <a:avLst/>
          </a:prstGeom>
          <a:solidFill>
            <a:srgbClr val="2F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35254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Sanity-checked vs. Play Tennis: Gini ≈ 0.4592, Entropy ≈ 0.9403 matched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tenure split found: 22.5 months (information gain 0.0933)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376672" cy="4480560"/>
          </a:xfrm>
          <a:prstGeom prst="roundRect">
            <a:avLst>
              <a:gd name="adj" fmla="val 1224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37960" y="2514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distance-based counterpoint to the tree , k = 5, using Euclidean distance, tied to the course's similarity work.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3456432"/>
            <a:ext cx="54864" cy="54864"/>
          </a:xfrm>
          <a:prstGeom prst="ellipse">
            <a:avLst/>
          </a:prstGeom>
          <a:solidFill>
            <a:srgbClr val="F26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features one-hot encoded before distance is computed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4032504"/>
            <a:ext cx="54864" cy="54864"/>
          </a:xfrm>
          <a:prstGeom prst="ellipse">
            <a:avLst/>
          </a:prstGeom>
          <a:solidFill>
            <a:srgbClr val="F26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391363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features standardized, so no single scale dominates the distance metric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9377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this answers: does “who's similar to whom” beat rule-based splits for this data?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TEST-SET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edges ahead — but Gini catches more churners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2,113 held-out customers the models never saw during training.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103120"/>
          <a:ext cx="64922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002536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822692" y="2167128"/>
            <a:ext cx="0" cy="731520"/>
          </a:xfrm>
          <a:prstGeom prst="line">
            <a:avLst/>
          </a:prstGeom>
          <a:noFill/>
          <a:ln w="15875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— Entropy Tree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227685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accuracy (73.45%) and F1 (0.6128) the best all-around balance.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4288536"/>
            <a:ext cx="100584" cy="100584"/>
          </a:xfrm>
          <a:prstGeom prst="rect">
            <a:avLst/>
          </a:prstGeom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822692" y="4453128"/>
            <a:ext cx="0" cy="731520"/>
          </a:xfrm>
          <a:prstGeom prst="line">
            <a:avLst/>
          </a:prstGeom>
          <a:noFill/>
          <a:ln w="15875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0" y="4251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Catching Churn — Gini Tree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456285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80.39% recall and the lowest cost (1,020) misses fewer actual churners.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Five-fold CV backs up the test-set story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ranking holds across five independent folds this isn't a coincidence of one train/test split.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60920" cy="4206240"/>
          </a:xfrm>
          <a:prstGeom prst="roundRect">
            <a:avLst>
              <a:gd name="adj" fmla="val 1304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MEAN ACCURACY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331720"/>
          <a:ext cx="6949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96596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321040" y="2148840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49640" y="2084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tree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21040" y="24231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78.20%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092440" y="333756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21040" y="3520440"/>
            <a:ext cx="100584" cy="100584"/>
          </a:xfrm>
          <a:prstGeom prst="rect">
            <a:avLst/>
          </a:prstGeom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49640" y="3456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tree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21040" y="3794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77.90%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092440" y="470916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321040" y="4892040"/>
            <a:ext cx="100584" cy="100584"/>
          </a:xfrm>
          <a:prstGeom prst="rect">
            <a:avLst/>
          </a:prstGeom>
          <a:ln w="19050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549640" y="4828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 (k=5)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21040" y="5166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77.13%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good answers, depending on what a false negative costs you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WANT BALANCE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Entropy tree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test accuracy, precision, F1, and mean CV accuracy the strongest overall trade-off between catching churners and not crying wolf.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4937760" cy="0"/>
          </a:xfrm>
          <a:prstGeom prst="line">
            <a:avLst/>
          </a:prstGeom>
          <a:noFill/>
          <a:ln w="12700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0.6128   ·   Accuracy = 73.45%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68112" cy="4160520"/>
          </a:xfrm>
          <a:prstGeom prst="roundRect">
            <a:avLst>
              <a:gd name="adj" fmla="val 1319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MISSING A CHURNER IS COSTLY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Gini tree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detects 80.39% of actual churners and posts the lowest total cost under a scheme that penalizes a missed churner five times more than a false alarm.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4160520"/>
            <a:ext cx="4937760" cy="0"/>
          </a:xfrm>
          <a:prstGeom prst="line">
            <a:avLst/>
          </a:prstGeom>
          <a:noFill/>
          <a:ln w="12700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4315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80.39%   ·   Cost = 1,020 (lowest)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trees picked Contract as their root split — the single most informative signal. k-NN trailed on every metric, likely because one-hot-encoded distance gets noisy in higher dimensions.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pipeline could go further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3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551176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8932" y="2715768"/>
            <a:ext cx="0" cy="2194560"/>
          </a:xfrm>
          <a:prstGeom prst="line">
            <a:avLst/>
          </a:prstGeom>
          <a:noFill/>
          <a:ln w="15875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CV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25496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F1 and recall not just accuracy during validation, so tuning optimizes for what actually matters.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3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29000" y="2551176"/>
            <a:ext cx="100584" cy="100584"/>
          </a:xfrm>
          <a:prstGeom prst="rect">
            <a:avLst/>
          </a:prstGeom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9292" y="2715768"/>
            <a:ext cx="0" cy="2194560"/>
          </a:xfrm>
          <a:prstGeom prst="line">
            <a:avLst/>
          </a:prstGeom>
          <a:noFill/>
          <a:ln w="15875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2825496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tree depth and try different values of k rather than fixing depth 6 and k = 5 by convention.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3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9360" y="2551176"/>
            <a:ext cx="100584" cy="100584"/>
          </a:xfrm>
          <a:prstGeom prst="rect">
            <a:avLst/>
          </a:prstGeom>
          <a:ln w="19050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9652" y="2715768"/>
            <a:ext cx="0" cy="2194560"/>
          </a:xfrm>
          <a:prstGeom prst="line">
            <a:avLst/>
          </a:prstGeom>
          <a:noFill/>
          <a:ln w="15875">
            <a:solidFill>
              <a:srgbClr val="8C7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7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EDA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825496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churn-rate breakdowns by categorical feature and a full correlation analysis to complement the scatter matrix.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8972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3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189720" y="2551176"/>
            <a:ext cx="100584" cy="100584"/>
          </a:xfrm>
          <a:prstGeom prst="rect">
            <a:avLst/>
          </a:prstGeom>
          <a:ln w="19050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40012" y="2715768"/>
            <a:ext cx="0" cy="2194560"/>
          </a:xfrm>
          <a:prstGeom prst="line">
            <a:avLst/>
          </a:prstGeom>
          <a:noFill/>
          <a:ln w="15875">
            <a:solidFill>
              <a:srgbClr val="2FD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6404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Timing Check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64040" y="2825496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TotalCharges accumulates with tenure worth confirming every feature is actually known at prediction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250" kern="0" spc="20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pipeline, and a clear recommendation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cleaning and imputation through PCA, oversampling, EDA, two from-scratch decision trees, k-NN, cross-validation, and learning curves every stage of the assignment is covered on real customer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1109960" cy="2880360"/>
          </a:xfrm>
          <a:prstGeom prst="roundRect">
            <a:avLst>
              <a:gd name="adj" fmla="val 1905"/>
            </a:avLst>
          </a:prstGeom>
          <a:solidFill>
            <a:srgbClr val="24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Entropy-based Decision Tree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test F1 and accuracy, best mean CV accuracy. The Gini tree stays the pick whenever recall or the business cost of a missed churner outweighs precision.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73.45%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6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0.6128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5074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7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mean accuracy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43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1237</Words>
  <Application>Microsoft Office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Nour Mohamed</cp:lastModifiedBy>
  <cp:revision>2</cp:revision>
  <dcterms:created xsi:type="dcterms:W3CDTF">2026-08-15T16:47:06Z</dcterms:created>
  <dcterms:modified xsi:type="dcterms:W3CDTF">2026-08-16T18:54:44Z</dcterms:modified>
</cp:coreProperties>
</file>